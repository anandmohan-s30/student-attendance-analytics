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6e0951763de4cd8" /><Relationship Type="http://schemas.openxmlformats.org/package/2006/relationships/metadata/core-properties" Target="/docProps/core.xml" Id="R1a188631ea2348d3" /><Relationship Type="http://schemas.openxmlformats.org/officeDocument/2006/relationships/extended-properties" Target="/docProps/app.xml" Id="Rb5bc214e97dc43aa" /><Relationship Type="http://schemas.openxmlformats.org/officeDocument/2006/relationships/custom-properties" Target="/docProps/custom.xml" Id="R3172353a5f574dc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21c11cdbff2476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21c11cdbff2476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16b2a908b4b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535e055c24a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279ffad6f43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60054c12d41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bfaff3cdc46e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bfdacbaa69f4e6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4d11f4e6946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1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7C3AED"/>
              </a:solidFill>
            </a:endParaRPr>
          </a:p>
        </p:txBody>
      </p:sp>
      <p:sp>
        <p:nvSpPr>
          <p:cNvPr id="100001" name="HeaderBg"/>
          <p:cNvSpPr txBox="1"/>
          <p:nvPr/>
        </p:nvSpPr>
        <p:spPr>
          <a:xfrm xmlns:a="http://schemas.openxmlformats.org/drawingml/2006/main">
            <a:off x="0" y="162000"/>
            <a:ext cx="121932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61B22"/>
              </a:solidFill>
            </a:endParaRP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432000" y="234000"/>
            <a:ext cx="86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Segoe UI"/>
                <a:ea typeface="Segoe UI"/>
              </a:rPr>
              <a:t>Student Attendance Analytics</a:t>
            </a:r>
          </a:p>
        </p:txBody>
      </p:sp>
      <p:sp>
        <p:nvSpPr>
          <p:cNvPr id="100003" name="GithubBadge"/>
          <p:cNvSpPr txBox="1"/>
          <p:nvPr/>
        </p:nvSpPr>
        <p:spPr>
          <a:xfrm xmlns:a="http://schemas.openxmlformats.org/drawingml/2006/main">
            <a:off x="432000" y="774000"/>
            <a:ext cx="79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7C3AED"/>
                </a:solidFill>
                <a:latin typeface="Segoe UI"/>
                <a:ea typeface="Segoe UI"/>
              </a:rPr>
              <a:t>github.com/AnandMohan-s30/student-attendance-analytics</a:t>
            </a:r>
          </a:p>
        </p:txBody>
      </p:sp>
      <p:sp>
        <p:nvSpPr>
          <p:cNvPr id="100004" name="Badge1"/>
          <p:cNvSpPr txBox="1"/>
          <p:nvPr/>
        </p:nvSpPr>
        <p:spPr>
          <a:xfrm xmlns:a="http://schemas.openxmlformats.org/drawingml/2006/main">
            <a:off x="9000000" y="270000"/>
            <a:ext cx="90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DA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D1117"/>
                </a:solidFill>
                <a:latin typeface="Segoe UI"/>
                <a:ea typeface="Segoe UI"/>
              </a:rPr>
              <a:t>React 18</a:t>
            </a:r>
          </a:p>
        </p:txBody>
      </p:sp>
      <p:sp>
        <p:nvSpPr>
          <p:cNvPr id="100005" name="Badge2"/>
          <p:cNvSpPr txBox="1"/>
          <p:nvPr/>
        </p:nvSpPr>
        <p:spPr>
          <a:xfrm xmlns:a="http://schemas.openxmlformats.org/drawingml/2006/main">
            <a:off x="9972000" y="270000"/>
            <a:ext cx="90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99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  <a:latin typeface="Segoe UI"/>
                <a:ea typeface="Segoe UI"/>
              </a:rPr>
              <a:t>Node.js</a:t>
            </a:r>
          </a:p>
        </p:txBody>
      </p:sp>
      <p:sp>
        <p:nvSpPr>
          <p:cNvPr id="100006" name="Badge3"/>
          <p:cNvSpPr txBox="1"/>
          <p:nvPr/>
        </p:nvSpPr>
        <p:spPr>
          <a:xfrm xmlns:a="http://schemas.openxmlformats.org/drawingml/2006/main">
            <a:off x="10944000" y="270000"/>
            <a:ext cx="90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9A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  <a:latin typeface="Segoe UI"/>
                <a:ea typeface="Segoe UI"/>
              </a:rPr>
              <a:t>MySQL</a:t>
            </a:r>
          </a:p>
        </p:txBody>
      </p:sp>
      <p:sp>
        <p:nvSpPr>
          <p:cNvPr id="100007" name="Badge4"/>
          <p:cNvSpPr txBox="1"/>
          <p:nvPr/>
        </p:nvSpPr>
        <p:spPr>
          <a:xfrm xmlns:a="http://schemas.openxmlformats.org/drawingml/2006/main">
            <a:off x="9000000" y="522000"/>
            <a:ext cx="90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  <a:latin typeface="Segoe UI"/>
                <a:ea typeface="Segoe UI"/>
              </a:rPr>
              <a:t>JWT Auth</a:t>
            </a:r>
          </a:p>
        </p:txBody>
      </p:sp>
      <p:sp>
        <p:nvSpPr>
          <p:cNvPr id="100008" name="Badge5"/>
          <p:cNvSpPr txBox="1"/>
          <p:nvPr/>
        </p:nvSpPr>
        <p:spPr>
          <a:xfrm xmlns:a="http://schemas.openxmlformats.org/drawingml/2006/main">
            <a:off x="9972000" y="522000"/>
            <a:ext cx="90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D1117"/>
                </a:solidFill>
                <a:latin typeface="Segoe UI"/>
                <a:ea typeface="Segoe UI"/>
              </a:rPr>
              <a:t>Tailwind</a:t>
            </a:r>
          </a:p>
        </p:txBody>
      </p:sp>
      <p:sp>
        <p:nvSpPr>
          <p:cNvPr id="100009" name="Badge6"/>
          <p:cNvSpPr txBox="1"/>
          <p:nvPr/>
        </p:nvSpPr>
        <p:spPr>
          <a:xfrm xmlns:a="http://schemas.openxmlformats.org/drawingml/2006/main">
            <a:off x="10944000" y="522000"/>
            <a:ext cx="90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  <a:latin typeface="Segoe UI"/>
                <a:ea typeface="Segoe UI"/>
              </a:rPr>
              <a:t>Recharts</a:t>
            </a:r>
          </a:p>
        </p:txBody>
      </p:sp>
      <p:sp>
        <p:nvSpPr>
          <p:cNvPr id="100010" name="HRule"/>
          <p:cNvSpPr txBox="1"/>
          <p:nvPr/>
        </p:nvSpPr>
        <p:spPr>
          <a:xfrm xmlns:a="http://schemas.openxmlformats.org/drawingml/2006/main">
            <a:off x="432000" y="1224000"/>
            <a:ext cx="1134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6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1262D"/>
              </a:solidFill>
            </a:endParaRPr>
          </a:p>
        </p:txBody>
      </p:sp>
      <p:sp>
        <p:nvSpPr>
          <p:cNvPr id="100011" name="H1"/>
          <p:cNvSpPr txBox="1"/>
          <p:nvPr/>
        </p:nvSpPr>
        <p:spPr>
          <a:xfrm xmlns:a="http://schemas.openxmlformats.org/drawingml/2006/main">
            <a:off x="432000" y="1296000"/>
            <a:ext cx="27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7C3AED"/>
                </a:solidFill>
                <a:latin typeface="Segoe UI"/>
                <a:ea typeface="Segoe UI"/>
              </a:rPr>
              <a:t>FEATURES</a:t>
            </a:r>
          </a:p>
        </p:txBody>
      </p:sp>
      <p:sp>
        <p:nvSpPr>
          <p:cNvPr id="100012" name="FeaturesBg"/>
          <p:cNvSpPr txBox="1"/>
          <p:nvPr/>
        </p:nvSpPr>
        <p:spPr>
          <a:xfrm xmlns:a="http://schemas.openxmlformats.org/drawingml/2006/main">
            <a:off x="432000" y="1548000"/>
            <a:ext cx="2808000" cy="46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61B22"/>
              </a:solidFill>
            </a:endParaRPr>
          </a:p>
        </p:txBody>
      </p:sp>
      <p:sp>
        <p:nvSpPr>
          <p:cNvPr id="100013" name="Features"/>
          <p:cNvSpPr txBox="1"/>
          <p:nvPr/>
        </p:nvSpPr>
        <p:spPr>
          <a:xfrm xmlns:a="http://schemas.openxmlformats.org/drawingml/2006/main">
            <a:off x="504000" y="1584000"/>
            <a:ext cx="2664000" cy="45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Login &amp; Auth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Secure JWT in HttpOnly cookie (8 h).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Email + password, bcrypt hashed.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Dashboard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KPI cards: students, subjects, sessions.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Recharts bar, pie &amp; line charts.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Defaulter summary panel.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Student Management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Full CRUD with live search.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Attendance % auto-calculated.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Subject Management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Full CRUD, faculty mapping.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Attendance Marking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Bulk Present / Absent per subject/day.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Upsert — safe to re-submit.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Attendance History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Filter by date, subject, student.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Analytics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Distribution tiers, top/bottom 5,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monthly trend, subject averages.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Defaulter Detection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Auto-flag students below 75%.</a:t>
            </a:r>
          </a:p>
        </p:txBody>
      </p:sp>
      <p:sp>
        <p:nvSpPr>
          <p:cNvPr id="100014" name="VRule1"/>
          <p:cNvSpPr txBox="1"/>
          <p:nvPr/>
        </p:nvSpPr>
        <p:spPr>
          <a:xfrm xmlns:a="http://schemas.openxmlformats.org/drawingml/2006/main">
            <a:off x="3348000" y="1224000"/>
            <a:ext cx="21600" cy="47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6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1262D"/>
              </a:solidFill>
            </a:endParaRPr>
          </a:p>
        </p:txBody>
      </p:sp>
      <p:sp>
        <p:nvSpPr>
          <p:cNvPr id="100015" name="H2"/>
          <p:cNvSpPr txBox="1"/>
          <p:nvPr/>
        </p:nvSpPr>
        <p:spPr>
          <a:xfrm xmlns:a="http://schemas.openxmlformats.org/drawingml/2006/main">
            <a:off x="3456000" y="1296000"/>
            <a:ext cx="27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7C3AED"/>
                </a:solidFill>
                <a:latin typeface="Segoe UI"/>
                <a:ea typeface="Segoe UI"/>
              </a:rPr>
              <a:t>TECH STACK</a:t>
            </a:r>
          </a:p>
        </p:txBody>
      </p:sp>
      <p:sp>
        <p:nvSpPr>
          <p:cNvPr id="100016" name="TechBg"/>
          <p:cNvSpPr txBox="1"/>
          <p:nvPr/>
        </p:nvSpPr>
        <p:spPr>
          <a:xfrm xmlns:a="http://schemas.openxmlformats.org/drawingml/2006/main">
            <a:off x="3456000" y="1548000"/>
            <a:ext cx="2808000" cy="46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61B22"/>
              </a:solidFill>
            </a:endParaRPr>
          </a:p>
        </p:txBody>
      </p:sp>
      <p:sp>
        <p:nvSpPr>
          <p:cNvPr id="100017" name="TechStack"/>
          <p:cNvSpPr txBox="1"/>
          <p:nvPr/>
        </p:nvSpPr>
        <p:spPr>
          <a:xfrm xmlns:a="http://schemas.openxmlformats.org/drawingml/2006/main">
            <a:off x="3528000" y="1584000"/>
            <a:ext cx="2664000" cy="45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FRONTEND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Framework    React 18 + Vite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Styling           Tailwind CSS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Charts             Recharts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Routing           React Router v6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HTTP               Axios (withCredentials)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State               AuthContext (React Context)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BACKEND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Runtime          Node.js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Framework      Express.js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Password        bcrypt (cost 12)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Tokens            jsonwebtoken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Cookies           cookie-parser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DB Driver         mysql2 / promise pool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Dev                  nodemon, dotenv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DATABASE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Engine            MySQL 8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DB Name         student_attendance_db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Tables             students, subjects,</a:t>
            </a:r>
          </a:p>
          <a:p xmlns:a="http://schemas.openxmlformats.org/drawingml/2006/main">
            <a:r>
              <a:rPr lang="en-US" sz="1100" b="0">
                <a:solidFill>
                  <a:srgbClr val="C9D1D9"/>
                </a:solidFill>
                <a:latin typeface="Segoe UI"/>
                <a:ea typeface="Segoe UI"/>
              </a:rPr>
              <a:t>                         attendance, users</a:t>
            </a:r>
          </a:p>
        </p:txBody>
      </p:sp>
      <p:sp>
        <p:nvSpPr>
          <p:cNvPr id="100018" name="VRule2"/>
          <p:cNvSpPr txBox="1"/>
          <p:nvPr/>
        </p:nvSpPr>
        <p:spPr>
          <a:xfrm xmlns:a="http://schemas.openxmlformats.org/drawingml/2006/main">
            <a:off x="6372000" y="1224000"/>
            <a:ext cx="21600" cy="47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6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1262D"/>
              </a:solidFill>
            </a:endParaRPr>
          </a:p>
        </p:txBody>
      </p:sp>
      <p:sp>
        <p:nvSpPr>
          <p:cNvPr id="100019" name="H3"/>
          <p:cNvSpPr txBox="1"/>
          <p:nvPr/>
        </p:nvSpPr>
        <p:spPr>
          <a:xfrm xmlns:a="http://schemas.openxmlformats.org/drawingml/2006/main">
            <a:off x="6480000" y="1296000"/>
            <a:ext cx="27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7C3AED"/>
                </a:solidFill>
                <a:latin typeface="Segoe UI"/>
                <a:ea typeface="Segoe UI"/>
              </a:rPr>
              <a:t>ARCHITECTURE</a:t>
            </a:r>
          </a:p>
        </p:txBody>
      </p:sp>
      <p:sp>
        <p:nvSpPr>
          <p:cNvPr id="100020" name="ArchBg"/>
          <p:cNvSpPr txBox="1"/>
          <p:nvPr/>
        </p:nvSpPr>
        <p:spPr>
          <a:xfrm xmlns:a="http://schemas.openxmlformats.org/drawingml/2006/main">
            <a:off x="6480000" y="1548000"/>
            <a:ext cx="2808000" cy="46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61B22"/>
              </a:solidFill>
            </a:endParaRPr>
          </a:p>
        </p:txBody>
      </p:sp>
      <p:sp>
        <p:nvSpPr>
          <p:cNvPr id="100021" name="Architecture"/>
          <p:cNvSpPr txBox="1"/>
          <p:nvPr/>
        </p:nvSpPr>
        <p:spPr>
          <a:xfrm xmlns:a="http://schemas.openxmlformats.org/drawingml/2006/main">
            <a:off x="6552000" y="1584000"/>
            <a:ext cx="2664000" cy="45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frontend/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index.html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src/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main.jsx          Entry point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App.jsx            Router setup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context/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AuthContext.jsx  Session mgmt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components/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Sidebar.jsx       Nav + logout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Header.jsx        Page header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KpiCard.jsx       Metric card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PrivateRoute.jsx  Auth guard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pages/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Login.jsx         Auth page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Dashboard.jsx     Home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Students.jsx      CRUD list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Subjects.jsx      CRUD list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Attendance.jsx    Mark page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Analytics.jsx     Charts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StudentDetails    Detail view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services/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api.js            Axios instance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utils/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    attendance.js     Helpers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backend/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server.js             Entry + routes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controllers/          Business logic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middleware/auth.js    JWT verify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routes/               Express routers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db/pool.js            MySQL pool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scripts/seed-admin.js Seed user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database/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schema.sql            Tables + data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Segoe UI"/>
                <a:ea typeface="Segoe UI"/>
              </a:rPr>
              <a:t>  migrate_users.sql     Users table</a:t>
            </a:r>
          </a:p>
        </p:txBody>
      </p:sp>
      <p:sp>
        <p:nvSpPr>
          <p:cNvPr id="100022" name="VRule3"/>
          <p:cNvSpPr txBox="1"/>
          <p:nvPr/>
        </p:nvSpPr>
        <p:spPr>
          <a:xfrm xmlns:a="http://schemas.openxmlformats.org/drawingml/2006/main">
            <a:off x="9396000" y="1224000"/>
            <a:ext cx="21600" cy="47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6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1262D"/>
              </a:solidFill>
            </a:endParaRPr>
          </a:p>
        </p:txBody>
      </p:sp>
      <p:sp>
        <p:nvSpPr>
          <p:cNvPr id="100023" name="H4"/>
          <p:cNvSpPr txBox="1"/>
          <p:nvPr/>
        </p:nvSpPr>
        <p:spPr>
          <a:xfrm xmlns:a="http://schemas.openxmlformats.org/drawingml/2006/main">
            <a:off x="9504000" y="1296000"/>
            <a:ext cx="25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7C3AED"/>
                </a:solidFill>
                <a:latin typeface="Segoe UI"/>
                <a:ea typeface="Segoe UI"/>
              </a:rPr>
              <a:t>API ENDPOINTS</a:t>
            </a:r>
          </a:p>
        </p:txBody>
      </p:sp>
      <p:sp>
        <p:nvSpPr>
          <p:cNvPr id="100024" name="APIBg"/>
          <p:cNvSpPr txBox="1"/>
          <p:nvPr/>
        </p:nvSpPr>
        <p:spPr>
          <a:xfrm xmlns:a="http://schemas.openxmlformats.org/drawingml/2006/main">
            <a:off x="9504000" y="1548000"/>
            <a:ext cx="2556000" cy="46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61B22"/>
              </a:solidFill>
            </a:endParaRPr>
          </a:p>
        </p:txBody>
      </p:sp>
      <p:sp>
        <p:nvSpPr>
          <p:cNvPr id="100025" name="API"/>
          <p:cNvSpPr txBox="1"/>
          <p:nvPr/>
        </p:nvSpPr>
        <p:spPr>
          <a:xfrm xmlns:a="http://schemas.openxmlformats.org/drawingml/2006/main">
            <a:off x="9540000" y="1584000"/>
            <a:ext cx="2484000" cy="45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AUTH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POST  /api/auth/login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POST  /api/auth/logout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  /api/auth/me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STUDENTS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  /api/students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POST  /api/students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PUT    /api/students/:id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DEL    /api/students/:id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SUBJECTS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  /api/subjects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POST  /api/subjects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PUT    /api/subjects/:id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DEL    /api/subjects/:id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ATTENDANCE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  /api/attendance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POST  /api/attendance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ANALYTICS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/api/analytics/overview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/api/analytics/distribution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/api/analytics/top-bottom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/api/analytics/subject-overview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/api/analytics/monthly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/api/analytics/defaulters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/api/analytics/student/:id</a:t>
            </a:r>
          </a:p>
          <a:p xmlns:a="http://schemas.openxmlformats.org/drawingml/2006/main">
            <a:r>
              <a:rPr lang="en-US" sz="1000" b="0">
                <a:solidFill>
                  <a:srgbClr val="C9D1D9"/>
                </a:solidFill>
                <a:latin typeface="Courier New"/>
                <a:ea typeface="Courier New"/>
              </a:rPr>
              <a:t>GET  /api/analytics/subject/:id</a:t>
            </a:r>
          </a:p>
        </p:txBody>
      </p:sp>
      <p:sp>
        <p:nvSpPr>
          <p:cNvPr id="100026" name="FooterBg"/>
          <p:cNvSpPr txBox="1"/>
          <p:nvPr/>
        </p:nvSpPr>
        <p:spPr>
          <a:xfrm xmlns:a="http://schemas.openxmlformats.org/drawingml/2006/main">
            <a:off x="0" y="6408000"/>
            <a:ext cx="1219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61B22"/>
              </a:solidFill>
            </a:endParaRPr>
          </a:p>
        </p:txBody>
      </p:sp>
      <p:sp>
        <p:nvSpPr>
          <p:cNvPr id="100027" name="FooterRule"/>
          <p:cNvSpPr txBox="1"/>
          <p:nvPr/>
        </p:nvSpPr>
        <p:spPr>
          <a:xfrm xmlns:a="http://schemas.openxmlformats.org/drawingml/2006/main">
            <a:off x="0" y="6408000"/>
            <a:ext cx="12193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7C3AED"/>
              </a:solidFill>
            </a:endParaRPr>
          </a:p>
        </p:txBody>
      </p:sp>
      <p:sp>
        <p:nvSpPr>
          <p:cNvPr id="100028" name="FooterLeft"/>
          <p:cNvSpPr txBox="1"/>
          <p:nvPr/>
        </p:nvSpPr>
        <p:spPr>
          <a:xfrm xmlns:a="http://schemas.openxmlformats.org/drawingml/2006/main">
            <a:off x="432000" y="6462000"/>
            <a:ext cx="72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6E7681"/>
                </a:solidFill>
                <a:latin typeface="Segoe UI"/>
                <a:ea typeface="Segoe UI"/>
              </a:rPr>
              <a:t>Backend: localhost:5000   |   Frontend: localhost:5173   |   DB: student_attendance_db</a:t>
            </a:r>
          </a:p>
        </p:txBody>
      </p:sp>
      <p:sp>
        <p:nvSpPr>
          <p:cNvPr id="100029" name="FooterRight"/>
          <p:cNvSpPr txBox="1"/>
          <p:nvPr/>
        </p:nvSpPr>
        <p:spPr>
          <a:xfrm xmlns:a="http://schemas.openxmlformats.org/drawingml/2006/main">
            <a:off x="10080000" y="6462000"/>
            <a:ext cx="18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7C3AED"/>
                </a:solidFill>
                <a:latin typeface="Segoe UI"/>
                <a:ea typeface="Segoe UI"/>
              </a:rPr>
              <a:t>By AnandMohan-s30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2026-10-09T06:35:37Z</dcterms:created>
  <cp:lastModifiedBy>OfficeCLI</cp:lastModifiedBy>
  <dcterms:modified xsi:type="dcterms:W3CDTF">2026-10-09T06:35:37Z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2026-10-09T06:35:39Z</vt:lpwstr>
  </op:property>
</op:Properties>
</file>